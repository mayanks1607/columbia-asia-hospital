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embeddedFontLst>
    <p:embeddedFont>
      <p:font typeface="Play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309565" y="2363299"/>
            <a:ext cx="9718430" cy="238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Columbia Asia Hospital Analysis</a:t>
            </a:r>
            <a:endParaRPr b="1" sz="48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4800"/>
              <a:buFont typeface="Arial"/>
              <a:buNone/>
            </a:pPr>
            <a:r>
              <a:t/>
            </a:r>
            <a:endParaRPr b="1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524000" y="4750899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Presented By: Mayank Sinha</a:t>
            </a:r>
            <a:endParaRPr/>
          </a:p>
        </p:txBody>
      </p:sp>
      <p:pic>
        <p:nvPicPr>
          <p:cNvPr descr="A blue and black text&#10;&#10;AI-generated content may be incorrect.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500554" y="1254369"/>
            <a:ext cx="5873261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 with Problem Statement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Overview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 and Key finding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989384" y="187569"/>
            <a:ext cx="621323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Content Overview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octor holding a clipboard and pen&#10;&#10;AI-generated content may be incorrect.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732" y="1254369"/>
            <a:ext cx="5707432" cy="4155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207476" y="1453661"/>
            <a:ext cx="9777046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Columbia Asia Hospital is committed to delivering quality healthcare while optimizing its operations. In this project, I analyze hospital data to uncover insights on revenue generation, patient satisfaction, and departmental efficiency. By understanding key metrics, I aim to provide actionable recommendations that can enhance patient experience and improve the hospital’s overall performance.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Focus Areas: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Assessing the hospital's revenue streams and identifying high-revenue departments.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Analyzing patient satisfaction scores across demographics and departments.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Identifying departments with high patient volume for potential staffing needs.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Developing strategies for targeted patient discounts to improve satisfaction and loyalty.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989384" y="187569"/>
            <a:ext cx="621323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1207476" y="1634119"/>
            <a:ext cx="9777046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analyze the hospital’s revenue streams and identify departments that contribute most to overall income.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evaluate patient satisfaction scores across demographics and departments to understand key drivers of patient experience.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assess departmental demand and identify potential areas for staffing improvements.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provide actionable strategies and recommendations for targeted discounts and improved patient engagement.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2989384" y="187569"/>
            <a:ext cx="621323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117" name="Google Shape;1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1207476" y="1634119"/>
            <a:ext cx="977704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Columbia Asia Hospital is focused on optimizing its operational performance and enhancing patient satisfaction. The hospital seeks a comprehensive analysis to identify revenue-driving departments, understand patient demographics, and evaluate patient satisfaction across various age and racial groups. Additionally, assessing patient wait times, discount eligibility, and department-wise demand is crucial for creating effective strategies to improve patient engagement and streamline hospital services.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2989384" y="187569"/>
            <a:ext cx="621323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124" name="Google Shape;1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1309565" y="1430704"/>
            <a:ext cx="9433172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Source: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dataset includes comprehensive records of patient visits, doctor referrals, and billing information from Columbia Asia Hospital.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tables, such </a:t>
            </a:r>
            <a:r>
              <a:rPr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i="0" lang="en-US" sz="1800" u="none" cap="none" strike="noStrike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doctor_patients_data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0" lang="en-US" sz="1800" u="none" cap="none" strike="noStrike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hospital_er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capture details on patient demographics, appointment fees, satisfaction scores, and wait times, offering a full view of hospital operations and patient experience.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Used: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for data querying and extraction.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BI for data visualization and insights generation.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2989384" y="187569"/>
            <a:ext cx="621323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Data Overview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6399087" y="3394969"/>
            <a:ext cx="5205046" cy="1922584"/>
          </a:xfrm>
          <a:prstGeom prst="roundRect">
            <a:avLst>
              <a:gd fmla="val 16667" name="adj"/>
            </a:avLst>
          </a:prstGeom>
          <a:solidFill>
            <a:srgbClr val="C0E4F5"/>
          </a:solidFill>
          <a:ln cap="flat" cmpd="sng" w="12700">
            <a:solidFill>
              <a:srgbClr val="C0E4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6477487" y="1263864"/>
            <a:ext cx="5205046" cy="1922584"/>
          </a:xfrm>
          <a:prstGeom prst="roundRect">
            <a:avLst>
              <a:gd fmla="val 16667" name="adj"/>
            </a:avLst>
          </a:prstGeom>
          <a:solidFill>
            <a:srgbClr val="C0E4F5"/>
          </a:solidFill>
          <a:ln cap="flat" cmpd="sng" w="12700">
            <a:solidFill>
              <a:srgbClr val="C0E4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1004764" y="3407728"/>
            <a:ext cx="5205046" cy="1922584"/>
          </a:xfrm>
          <a:prstGeom prst="roundRect">
            <a:avLst>
              <a:gd fmla="val 16667" name="adj"/>
            </a:avLst>
          </a:prstGeom>
          <a:solidFill>
            <a:srgbClr val="C0E4F5"/>
          </a:solidFill>
          <a:ln cap="flat" cmpd="sng" w="12700">
            <a:solidFill>
              <a:srgbClr val="C0E4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black text&#10;&#10;AI-generated content may be incorrect." id="134" name="Google Shape;1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/>
        </p:nvSpPr>
        <p:spPr>
          <a:xfrm>
            <a:off x="2989384" y="187569"/>
            <a:ext cx="621323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1285623" y="3662594"/>
            <a:ext cx="4803532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3: Financial &amp; Operational Insights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Assess revenue by department and identify staffing needs.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correlations between wait times and satisfaction to identify key experience factors.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6793522" y="1547934"/>
            <a:ext cx="481818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2: Patient &amp; Department Analysis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patient satisfaction by age, race, and department.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department performance based on revenue, patient volume, and wait times.</a:t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1004764" y="1274994"/>
            <a:ext cx="5205046" cy="1922584"/>
          </a:xfrm>
          <a:prstGeom prst="roundRect">
            <a:avLst>
              <a:gd fmla="val 16667" name="adj"/>
            </a:avLst>
          </a:prstGeom>
          <a:solidFill>
            <a:srgbClr val="C0E4F5"/>
          </a:solidFill>
          <a:ln cap="flat" cmpd="sng" w="12700">
            <a:solidFill>
              <a:srgbClr val="C0E4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6792299" y="3633286"/>
            <a:ext cx="457542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4: 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 discounts and staffing improvements to boost satisfaction and efficiency.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 engagement initiatives based on satisfaction scores to enhance loyalty.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1309565" y="1558816"/>
            <a:ext cx="4816231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Data Extraction &amp; Preprocessing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 and clean data using Excel &amp; SQL.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Aggregate metrics on patient demographics, billing, referrals, and satisfaction.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145" name="Google Shape;1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/>
        </p:nvSpPr>
        <p:spPr>
          <a:xfrm>
            <a:off x="2664543" y="241317"/>
            <a:ext cx="859339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Total Revenue by Department</a:t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1229032" y="1897625"/>
            <a:ext cx="4198375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Orthopedics Department recorded the highest total revenue among all departments, generating 173 million.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Renal Department had the lowest total revenue, contributing just 5 million.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of revenue&#10;&#10;AI-generated content may be incorrect." id="148" name="Google Shape;14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809134"/>
            <a:ext cx="5610428" cy="365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153" name="Google Shape;1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2503365" y="241317"/>
            <a:ext cx="8116519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Total Revenue by Age Group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55" name="Google Shape;155;p21"/>
          <p:cNvSpPr txBox="1"/>
          <p:nvPr/>
        </p:nvSpPr>
        <p:spPr>
          <a:xfrm>
            <a:off x="1122752" y="1854878"/>
            <a:ext cx="441281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age group 0-17 generated the highest revenue, totaling 115 million. Followed by the 18-34 age group with 114 million.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lowest revenue was recorded in the 65+ age group, contributing 88 million.</a:t>
            </a:r>
            <a:endParaRPr/>
          </a:p>
        </p:txBody>
      </p:sp>
      <p:pic>
        <p:nvPicPr>
          <p:cNvPr id="156" name="Google Shape;15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7174" y="1854878"/>
            <a:ext cx="6096000" cy="3729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162" name="Google Shape;1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/>
          <p:nvPr/>
        </p:nvSpPr>
        <p:spPr>
          <a:xfrm>
            <a:off x="2503365" y="241317"/>
            <a:ext cx="811651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Total Revenue by Race</a:t>
            </a:r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837615" y="1933674"/>
            <a:ext cx="468811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White demographic generated the highest revenue, contributing 141 million to the government, followed by African Americans with 110 million.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Native American demographic recorded the lowest revenue, contributing 30 million.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866" y="1855016"/>
            <a:ext cx="6215533" cy="3391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170" name="Google Shape;1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>
            <a:off x="2964714" y="241317"/>
            <a:ext cx="765517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Total Revenue by Gender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72" name="Google Shape;172;p23"/>
          <p:cNvSpPr txBox="1"/>
          <p:nvPr/>
        </p:nvSpPr>
        <p:spPr>
          <a:xfrm>
            <a:off x="955605" y="1910428"/>
            <a:ext cx="501257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Males generated the highest revenue, contributing 263.9 million (51.82%), followed by Females with 244.3 million (47.97%).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Not Mentioned category contributed the remaining 1 million.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3"/>
          <p:cNvPicPr preferRelativeResize="0"/>
          <p:nvPr/>
        </p:nvPicPr>
        <p:blipFill rotWithShape="1">
          <a:blip r:embed="rId4">
            <a:alphaModFix/>
          </a:blip>
          <a:srcRect b="0" l="0" r="0" t="5801"/>
          <a:stretch/>
        </p:blipFill>
        <p:spPr>
          <a:xfrm>
            <a:off x="6803923" y="4514006"/>
            <a:ext cx="4499387" cy="15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3820" y="1283037"/>
            <a:ext cx="5319251" cy="3161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179" name="Google Shape;1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904568" y="460390"/>
            <a:ext cx="11012129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Department-Wise Average Waiting Time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808535" y="2009879"/>
            <a:ext cx="465748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Neurology Department has the highest average waiting time of 36.80 minutes, followed closely by Physiotherapy with 36.57 minutes.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Renal Department has the lowest average waiting time of 34.70 minutes.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7258" y="1748341"/>
            <a:ext cx="6744741" cy="3915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187" name="Google Shape;1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 txBox="1"/>
          <p:nvPr/>
        </p:nvSpPr>
        <p:spPr>
          <a:xfrm>
            <a:off x="2964714" y="241317"/>
            <a:ext cx="765517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Total Profit by Year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844587" y="1840322"/>
            <a:ext cx="478643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2019, the total profit was 238 million, with the peak profit recorded in June at 30.2 million.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2020, the total profit increased to 266 million, with the highest profit in January at 29.9 million.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1022" y="1547934"/>
            <a:ext cx="6560978" cy="395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196" name="Google Shape;1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/>
        </p:nvSpPr>
        <p:spPr>
          <a:xfrm>
            <a:off x="1573162" y="354134"/>
            <a:ext cx="10176387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Race-Wise Average Satisfaction Rate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965437" y="1855711"/>
            <a:ext cx="4284989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highest average satisfaction score is among Pacific Islanders at 5.09, followed by Native Americans at 5.03.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lowest average satisfaction score is 4.96.</a:t>
            </a:r>
            <a:endParaRPr/>
          </a:p>
        </p:txBody>
      </p:sp>
      <p:pic>
        <p:nvPicPr>
          <p:cNvPr id="199" name="Google Shape;19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0426" y="1800684"/>
            <a:ext cx="6409776" cy="3591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205" name="Google Shape;2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 txBox="1"/>
          <p:nvPr/>
        </p:nvSpPr>
        <p:spPr>
          <a:xfrm>
            <a:off x="1514168" y="200246"/>
            <a:ext cx="10176387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Suggestions for Hiring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07" name="Google Shape;207;p27"/>
          <p:cNvSpPr txBox="1"/>
          <p:nvPr/>
        </p:nvSpPr>
        <p:spPr>
          <a:xfrm>
            <a:off x="955605" y="1757388"/>
            <a:ext cx="4284989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Practice: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the highest demand of 7,240 patients, 3.62M in appointment fees, and 164.07M total bill, this department is the primary choice for new hires.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Orthopedics: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General Practice is not prioritized, the next best option is Orthopedics, with 995 patients, 696.5K in appointment fees, and 172.94M total bill, indicating strong revenue potential.</a:t>
            </a:r>
            <a:endParaRPr/>
          </a:p>
          <a:p>
            <a:pPr indent="-191135" lvl="0" marL="30543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5975" y="1757388"/>
            <a:ext cx="6232903" cy="291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214" name="Google Shape;2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 txBox="1"/>
          <p:nvPr/>
        </p:nvSpPr>
        <p:spPr>
          <a:xfrm>
            <a:off x="1514168" y="200246"/>
            <a:ext cx="10176387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Discount Eligibility Analysis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16" name="Google Shape;216;p28"/>
          <p:cNvSpPr txBox="1"/>
          <p:nvPr/>
        </p:nvSpPr>
        <p:spPr>
          <a:xfrm>
            <a:off x="1236298" y="1651065"/>
            <a:ext cx="428498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 of 9,216 patients, 12.46% are eligible for a discount, based on spending over 10,000 and a satisfaction score above 6.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remaining 87.54% of patients are not eligible for the discount.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8517" y="1291728"/>
            <a:ext cx="5314808" cy="4274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222" name="Google Shape;2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9"/>
          <p:cNvSpPr txBox="1"/>
          <p:nvPr/>
        </p:nvSpPr>
        <p:spPr>
          <a:xfrm>
            <a:off x="2964713" y="241317"/>
            <a:ext cx="783224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Strategic Recommendations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24" name="Google Shape;224;p29"/>
          <p:cNvSpPr txBox="1"/>
          <p:nvPr/>
        </p:nvSpPr>
        <p:spPr>
          <a:xfrm>
            <a:off x="1309565" y="1664909"/>
            <a:ext cx="6290770" cy="236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 High-Demand Department Efficiency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Insight: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volume in General Practice and Orthopedics may cause bottlenecks and longer wait times, affecting satisfaction.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Recommendation: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Hire more staff in high-demand departments.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 improved scheduling and queue management to         reduce wait times and boost efficiency.</a:t>
            </a:r>
            <a:endParaRPr/>
          </a:p>
        </p:txBody>
      </p:sp>
      <p:pic>
        <p:nvPicPr>
          <p:cNvPr id="225" name="Google Shape;22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6414" y="3723968"/>
            <a:ext cx="3338050" cy="2294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230" name="Google Shape;2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0"/>
          <p:cNvSpPr txBox="1"/>
          <p:nvPr/>
        </p:nvSpPr>
        <p:spPr>
          <a:xfrm>
            <a:off x="2964713" y="241317"/>
            <a:ext cx="783224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Strategic Recommendations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32" name="Google Shape;232;p30"/>
          <p:cNvSpPr txBox="1"/>
          <p:nvPr/>
        </p:nvSpPr>
        <p:spPr>
          <a:xfrm>
            <a:off x="1309565" y="1664909"/>
            <a:ext cx="629077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Tailored Patient Satisfaction Initiatives</a:t>
            </a:r>
            <a:endParaRPr/>
          </a:p>
          <a:p>
            <a:pPr indent="-2413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Insight: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Satisfaction varies across age and race, with some groups reporting lower scores.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Recommendation: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targeted engagement strategies for low-scoring demographics.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Customize services and communication for a more personalized experience.</a:t>
            </a:r>
            <a:endParaRPr/>
          </a:p>
        </p:txBody>
      </p:sp>
      <p:pic>
        <p:nvPicPr>
          <p:cNvPr id="233" name="Google Shape;23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0435" y="3746090"/>
            <a:ext cx="3399503" cy="2266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238" name="Google Shape;23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1"/>
          <p:cNvSpPr txBox="1"/>
          <p:nvPr/>
        </p:nvSpPr>
        <p:spPr>
          <a:xfrm>
            <a:off x="2964713" y="241317"/>
            <a:ext cx="783224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Strategic Recommendations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40" name="Google Shape;240;p31"/>
          <p:cNvSpPr txBox="1"/>
          <p:nvPr/>
        </p:nvSpPr>
        <p:spPr>
          <a:xfrm>
            <a:off x="1309565" y="1664909"/>
            <a:ext cx="6290770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Optimize Discount Strategy for Patient Retention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Insight: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Medium to high discounts boost patient satisfaction.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Recommendation: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Expand discounts for patients with high out-of-pocket costs.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Introduce loyalty and follow-up visit discounts to encourage repeat visits.</a:t>
            </a:r>
            <a:endParaRPr/>
          </a:p>
        </p:txBody>
      </p:sp>
      <p:pic>
        <p:nvPicPr>
          <p:cNvPr id="241" name="Google Shape;24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7084" y="3788567"/>
            <a:ext cx="3345271" cy="217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246" name="Google Shape;24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2"/>
          <p:cNvSpPr txBox="1"/>
          <p:nvPr/>
        </p:nvSpPr>
        <p:spPr>
          <a:xfrm>
            <a:off x="1146125" y="241325"/>
            <a:ext cx="9650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Main Tab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248" name="Google Shape;248;p32" title="Main Tab.png"/>
          <p:cNvPicPr preferRelativeResize="0"/>
          <p:nvPr/>
        </p:nvPicPr>
        <p:blipFill rotWithShape="1">
          <a:blip r:embed="rId4">
            <a:alphaModFix/>
          </a:blip>
          <a:srcRect b="0" l="495" r="495" t="0"/>
          <a:stretch/>
        </p:blipFill>
        <p:spPr>
          <a:xfrm>
            <a:off x="1764709" y="1202716"/>
            <a:ext cx="8662583" cy="5316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Doctor's Tab.png"/>
          <p:cNvPicPr preferRelativeResize="0"/>
          <p:nvPr/>
        </p:nvPicPr>
        <p:blipFill rotWithShape="1">
          <a:blip r:embed="rId3">
            <a:alphaModFix/>
          </a:blip>
          <a:srcRect b="0" l="446" r="436" t="0"/>
          <a:stretch/>
        </p:blipFill>
        <p:spPr>
          <a:xfrm>
            <a:off x="973900" y="1202725"/>
            <a:ext cx="10490549" cy="5316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black text&#10;&#10;AI-generated content may be incorrect." id="254" name="Google Shape;25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 txBox="1"/>
          <p:nvPr/>
        </p:nvSpPr>
        <p:spPr>
          <a:xfrm>
            <a:off x="1177450" y="241325"/>
            <a:ext cx="10553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Doctors’ Tab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260" name="Google Shape;26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4"/>
          <p:cNvSpPr txBox="1"/>
          <p:nvPr/>
        </p:nvSpPr>
        <p:spPr>
          <a:xfrm>
            <a:off x="2148225" y="241325"/>
            <a:ext cx="9149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Patients’ Tab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262" name="Google Shape;262;p34" title="Patient's Ta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5100" y="1102300"/>
            <a:ext cx="10161750" cy="532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267" name="Google Shape;26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5"/>
          <p:cNvSpPr txBox="1"/>
          <p:nvPr/>
        </p:nvSpPr>
        <p:spPr>
          <a:xfrm>
            <a:off x="1929723" y="354134"/>
            <a:ext cx="833255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44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1207476" y="1634119"/>
            <a:ext cx="7848034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high-demand department efficiency and tailored patient satisfaction initiatives to enhance patient experience and revenue.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Leverage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targeted discounts to improve retention, especially among cost-sensitive patients.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staffing, service customization, and financial incentives to elevate care, boost satisfaction, and drive revenue growth.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Consistent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implementation will strengthen operational performance and the hospital’s reputation.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text&#10;&#10;AI-generated content may be incorrect." id="274" name="Google Shape;27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5" y="-839666"/>
            <a:ext cx="238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6"/>
          <p:cNvSpPr txBox="1"/>
          <p:nvPr>
            <p:ph type="ctrTitle"/>
          </p:nvPr>
        </p:nvSpPr>
        <p:spPr>
          <a:xfrm>
            <a:off x="1236785" y="1035837"/>
            <a:ext cx="971843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